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1887200" cy="8229600"/>
  <p:notesSz cx="8229600" cy="11887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8229600"/>
          </a:xfrm>
          <a:prstGeom prst="rect">
            <a:avLst/>
          </a:prstGeom>
          <a:solidFill>
            <a:srgbClr val="061E35"/>
          </a:solidFill>
          <a:ln w="12700">
            <a:solidFill>
              <a:srgbClr val="061E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143000"/>
            <a:ext cx="137160" cy="4389120"/>
          </a:xfrm>
          <a:prstGeom prst="rect">
            <a:avLst/>
          </a:prstGeom>
          <a:solidFill>
            <a:srgbClr val="D6FF2A"/>
          </a:solidFill>
          <a:ln w="12700">
            <a:solidFill>
              <a:srgbClr val="D6FF2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92240" y="1508760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0B314F"/>
          </a:solidFill>
          <a:ln w="12700">
            <a:solidFill>
              <a:srgbClr val="28506F"/>
            </a:solidFill>
            <a:prstDash val="solid"/>
          </a:ln>
          <a:effectLst>
            <a:outerShdw blurRad="25400" dist="50800" dir="2700000" algn="bl" rotWithShape="0">
              <a:srgbClr val="667085">
                <a:alpha val="25000"/>
              </a:srgbClr>
            </a:outerShdw>
          </a:effectLst>
        </p:spPr>
      </p:sp>
      <p:pic>
        <p:nvPicPr>
          <p:cNvPr id="7" name="Image 1" descr="/mnt/data/smart_home_crop2.png"/>
          <p:cNvPicPr>
            <a:picLocks noChangeAspect="1"/>
          </p:cNvPicPr>
          <p:nvPr/>
        </p:nvPicPr>
        <p:blipFill>
          <a:blip r:embed="rId1"/>
          <a:srcRect l="7772" r="7772"/>
          <a:stretch>
            <a:fillRect/>
          </a:stretch>
        </p:blipFill>
        <p:spPr>
          <a:xfrm>
            <a:off x="6720840" y="1737360"/>
            <a:ext cx="425196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03720" y="5897880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153E5F"/>
          </a:solidFill>
          <a:ln w="12700">
            <a:solidFill>
              <a:srgbClr val="153E5F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940296" y="5994441"/>
            <a:ext cx="3813048" cy="2457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SMART HOME · TELECOM · IOT </a:t>
            </a: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· EIE · IST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196596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2025级</a:t>
            </a:r>
            <a:r>
              <a:rPr lang="zh-CN" alt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二年级小</a:t>
            </a: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学期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987552" y="2542032"/>
            <a:ext cx="5349240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 and build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987552" y="345643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6F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2026年夏季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987552" y="4343400"/>
            <a:ext cx="4480560" cy="0"/>
          </a:xfrm>
          <a:prstGeom prst="line">
            <a:avLst/>
          </a:prstGeom>
          <a:noFill/>
          <a:ln w="12700">
            <a:solidFill>
              <a:srgbClr val="47799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7552" y="466344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Dr. QihuiYE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987552" y="510235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987552" y="726948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6C8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2026年7月1日</a:t>
            </a:r>
            <a:endParaRPr lang="en-US" sz="1400" dirty="0"/>
          </a:p>
        </p:txBody>
      </p:sp>
      <p:pic>
        <p:nvPicPr>
          <p:cNvPr id="18" name="图片 17"/>
          <p:cNvPicPr/>
          <p:nvPr/>
        </p:nvPicPr>
        <p:blipFill>
          <a:blip r:embed="rId2"/>
          <a:stretch>
            <a:fillRect/>
          </a:stretch>
        </p:blipFill>
        <p:spPr>
          <a:xfrm>
            <a:off x="7086600" y="279083"/>
            <a:ext cx="3886200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438912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 and build项目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281160" y="5486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课程目标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3749040" cy="5212080"/>
          </a:xfrm>
          <a:prstGeom prst="roundRect">
            <a:avLst>
              <a:gd name="adj" fmla="val 1951"/>
            </a:avLst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4128" y="199339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DnB</a:t>
            </a:r>
            <a:r>
              <a:rPr lang="zh-CN" alt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项目的目标</a:t>
            </a: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24128" y="2788920"/>
            <a:ext cx="3063240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D6F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把课堂知识转化为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D6F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可运行的工程原型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024128" y="4773168"/>
            <a:ext cx="3063240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9E7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鼓励主动性、工程判断与创新意识。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24128" y="591616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375" y="5907405"/>
            <a:ext cx="3081020" cy="5664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计入工程环境成绩</a:t>
            </a:r>
            <a:endParaRPr lang="en-US" sz="140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</a:t>
            </a:r>
            <a:r>
              <a:rPr lang="zh-CN" alt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核心课，</a:t>
            </a:r>
            <a:r>
              <a:rPr lang="en-US" altLang="zh-CN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DnB</a:t>
            </a:r>
            <a:r>
              <a:rPr lang="zh-CN" alt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是其中一部分</a:t>
            </a: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70078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47488" y="2395728"/>
            <a:ext cx="530352" cy="530352"/>
          </a:xfrm>
          <a:prstGeom prst="ellipse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47488" y="2478024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715000" y="244144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独立解决工程问题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47488" y="3355848"/>
            <a:ext cx="530352" cy="530352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47488" y="3438144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715000" y="340156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在实践场景中应用所学知识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047488" y="4315968"/>
            <a:ext cx="530352" cy="530352"/>
          </a:xfrm>
          <a:prstGeom prst="ellipse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47488" y="4398264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715000" y="436168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跨专业协作，获得小组工作经验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047488" y="5276088"/>
            <a:ext cx="530352" cy="530352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47488" y="5358384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715000" y="532180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了解设计项目不同环节的工作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19472" y="6473952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6473952"/>
            <a:ext cx="10058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6579108"/>
            <a:ext cx="555955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核心提醒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239512" y="6848983"/>
            <a:ext cx="5532120" cy="1188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D&amp;B 项目将计入你的工程环境成绩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438912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D&amp;B 项目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</a:t>
            </a:r>
            <a:r>
              <a:rPr lang="en-US" sz="25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组织方式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</a:t>
            </a:r>
            <a:endParaRPr lang="zh-CN" altLang="en-US" sz="2500" b="1" dirty="0">
              <a:solidFill>
                <a:srgbClr val="003E6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81160" y="5486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72768"/>
            <a:ext cx="1024128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8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小组</a:t>
            </a:r>
            <a:r>
              <a:rPr lang="en-US" sz="18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以“小型工程设计</a:t>
            </a:r>
            <a:r>
              <a:rPr lang="zh-CN" altLang="en-US" sz="18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</a:t>
            </a:r>
            <a:r>
              <a:rPr lang="en-US" sz="18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”的方式运行，</a:t>
            </a:r>
            <a:r>
              <a:rPr lang="zh-CN" altLang="en-US" sz="18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</a:t>
            </a:r>
            <a:r>
              <a:rPr lang="en-US" sz="18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个专业方向共同完成同一个智能家居系统。</a:t>
            </a:r>
            <a:endParaRPr lang="en-US" sz="1800" dirty="0"/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731520" y="233172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731520" y="2331720"/>
            <a:ext cx="100584" cy="434340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1042416" y="2551176"/>
            <a:ext cx="28620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分组</a:t>
            </a:r>
            <a:endParaRPr lang="en-US" sz="2200" dirty="0"/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1051560" y="3081528"/>
            <a:ext cx="2834640" cy="34290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 每组 10/11 名学生（已分配）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 每组包含电信</a:t>
            </a:r>
            <a:r>
              <a:rPr lang="zh-CN" alt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、电子、物联网、智科四个专业</a:t>
            </a: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 组内设置两个专业部门</a:t>
            </a:r>
            <a:endParaRPr lang="en-US" sz="1650" dirty="0"/>
          </a:p>
        </p:txBody>
      </p:sp>
      <p:sp>
        <p:nvSpPr>
          <p:cNvPr id="14" name="Shape 12"/>
          <p:cNvSpPr/>
          <p:nvPr>
            <p:custDataLst>
              <p:tags r:id="rId5"/>
            </p:custDataLst>
          </p:nvPr>
        </p:nvSpPr>
        <p:spPr>
          <a:xfrm>
            <a:off x="4297680" y="233172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4297680" y="2331720"/>
            <a:ext cx="100584" cy="4343400"/>
          </a:xfrm>
          <a:prstGeom prst="rect">
            <a:avLst/>
          </a:prstGeom>
          <a:solidFill>
            <a:srgbClr val="D6FF2A"/>
          </a:solidFill>
          <a:ln w="12700">
            <a:solidFill>
              <a:srgbClr val="D6FF2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4608576" y="2551176"/>
            <a:ext cx="28620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竞赛</a:t>
            </a:r>
            <a:endParaRPr lang="en-US" sz="2200" dirty="0"/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4617720" y="3081528"/>
            <a:ext cx="2834640" cy="34290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 鼓励展示完整系统与创新亮点</a:t>
            </a:r>
            <a:endParaRPr lang="en-US" sz="1650" dirty="0"/>
          </a:p>
        </p:txBody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7863840" y="233172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7863840" y="2331720"/>
            <a:ext cx="100584" cy="4343400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8174736" y="2551176"/>
            <a:ext cx="28620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</a:t>
            </a:r>
            <a:endParaRPr lang="en-US" sz="22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8183880" y="3081528"/>
            <a:ext cx="2834640" cy="34290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  硬件套件和电子元件</a:t>
            </a:r>
            <a:endParaRPr lang="en-US" sz="1650" dirty="0"/>
          </a:p>
          <a:p>
            <a:pPr marL="0" indent="0" algn="l"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375" y="438785"/>
            <a:ext cx="10426065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时间安排</a:t>
            </a: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：阶段 1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</a:t>
            </a:r>
            <a:r>
              <a:rPr lang="en-US" altLang="zh-CN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</a:t>
            </a:r>
            <a:r>
              <a:rPr lang="en-US" altLang="zh-CN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</a:t>
            </a:r>
            <a:r>
              <a:rPr lang="en-US" altLang="zh-CN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-7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</a:t>
            </a:r>
            <a:r>
              <a:rPr lang="en-US" altLang="zh-CN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日）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培训与独立组件开发</a:t>
            </a:r>
            <a:endParaRPr lang="en-US" sz="2500" dirty="0"/>
          </a:p>
          <a:p>
            <a:pPr marL="0" indent="0" algn="l">
              <a:buNone/>
            </a:pPr>
            <a:endParaRPr lang="zh-CN" altLang="en-US" sz="2500" b="1" dirty="0">
              <a:solidFill>
                <a:srgbClr val="003E6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2514600" y="2880360"/>
            <a:ext cx="1828800" cy="0"/>
          </a:xfrm>
          <a:prstGeom prst="line">
            <a:avLst/>
          </a:prstGeom>
          <a:noFill/>
          <a:ln w="25400">
            <a:solidFill>
              <a:srgbClr val="00A6D6"/>
            </a:solidFill>
            <a:prstDash val="solid"/>
            <a:tailEnd type="triangle"/>
          </a:ln>
        </p:spPr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5687568" y="2880360"/>
            <a:ext cx="1828800" cy="0"/>
          </a:xfrm>
          <a:prstGeom prst="line">
            <a:avLst/>
          </a:prstGeom>
          <a:noFill/>
          <a:ln w="25400">
            <a:solidFill>
              <a:srgbClr val="00A6D6"/>
            </a:solidFill>
            <a:prstDash val="solid"/>
            <a:tailEnd type="triangle"/>
          </a:ln>
        </p:spPr>
      </p:sp>
      <p:sp>
        <p:nvSpPr>
          <p:cNvPr id="11" name="Shape 9"/>
          <p:cNvSpPr/>
          <p:nvPr>
            <p:custDataLst>
              <p:tags r:id="rId3"/>
            </p:custDataLst>
          </p:nvPr>
        </p:nvSpPr>
        <p:spPr>
          <a:xfrm>
            <a:off x="868680" y="196596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E3E9F2"/>
            </a:solidFill>
            <a:prstDash val="solid"/>
          </a:ln>
          <a:effectLst>
            <a:outerShdw blurRad="25400" dist="50800" dir="2700000" algn="bl" rotWithShape="0">
              <a:srgbClr val="667085">
                <a:alpha val="12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1069848" y="2212848"/>
            <a:ext cx="530352" cy="530352"/>
          </a:xfrm>
          <a:prstGeom prst="ellipse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1069848" y="2295144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1737360" y="21945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培训</a:t>
            </a:r>
            <a:endParaRPr lang="en-US" sz="2000" dirty="0"/>
          </a:p>
        </p:txBody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1124712" y="283464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BUPT 教师指导下，分别接受相应技能培训。</a:t>
            </a:r>
            <a:endParaRPr lang="en-US" sz="1450" dirty="0"/>
          </a:p>
        </p:txBody>
      </p:sp>
      <p:sp>
        <p:nvSpPr>
          <p:cNvPr id="16" name="Shape 14"/>
          <p:cNvSpPr/>
          <p:nvPr>
            <p:custDataLst>
              <p:tags r:id="rId8"/>
            </p:custDataLst>
          </p:nvPr>
        </p:nvSpPr>
        <p:spPr>
          <a:xfrm>
            <a:off x="4050792" y="196596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E3E9F2"/>
            </a:solidFill>
            <a:prstDash val="solid"/>
          </a:ln>
          <a:effectLst>
            <a:outerShdw blurRad="25400" dist="50800" dir="2700000" algn="bl" rotWithShape="0">
              <a:srgbClr val="667085">
                <a:alpha val="12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9"/>
            </p:custDataLst>
          </p:nvPr>
        </p:nvSpPr>
        <p:spPr>
          <a:xfrm>
            <a:off x="4251960" y="2212848"/>
            <a:ext cx="530352" cy="530352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4251960" y="2295144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4919472" y="21945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分方向任务</a:t>
            </a:r>
            <a:endParaRPr lang="en-US" sz="2000" dirty="0"/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4306824" y="283464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</a:t>
            </a:r>
            <a:r>
              <a:rPr lang="zh-CN" alt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</a:t>
            </a:r>
            <a:r>
              <a:rPr lang="zh-CN" alt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、电子</a:t>
            </a:r>
            <a:r>
              <a:rPr 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：机电系统设计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物联网</a:t>
            </a:r>
            <a:r>
              <a:rPr lang="zh-CN" alt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、智科</a:t>
            </a:r>
            <a:r>
              <a:rPr 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：集成数据智能系统</a:t>
            </a:r>
            <a:endParaRPr lang="en-US" sz="1450" dirty="0"/>
          </a:p>
        </p:txBody>
      </p:sp>
      <p:sp>
        <p:nvSpPr>
          <p:cNvPr id="21" name="Shape 19"/>
          <p:cNvSpPr/>
          <p:nvPr>
            <p:custDataLst>
              <p:tags r:id="rId13"/>
            </p:custDataLst>
          </p:nvPr>
        </p:nvSpPr>
        <p:spPr>
          <a:xfrm>
            <a:off x="7232904" y="196596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E3E9F2"/>
            </a:solidFill>
            <a:prstDash val="solid"/>
          </a:ln>
          <a:effectLst>
            <a:outerShdw blurRad="25400" dist="50800" dir="2700000" algn="bl" rotWithShape="0">
              <a:srgbClr val="667085">
                <a:alpha val="12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14"/>
            </p:custDataLst>
          </p:nvPr>
        </p:nvSpPr>
        <p:spPr>
          <a:xfrm>
            <a:off x="7434072" y="2212848"/>
            <a:ext cx="530352" cy="530352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15"/>
            </p:custDataLst>
          </p:nvPr>
        </p:nvSpPr>
        <p:spPr>
          <a:xfrm>
            <a:off x="7434072" y="2295144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Text 22"/>
          <p:cNvSpPr/>
          <p:nvPr>
            <p:custDataLst>
              <p:tags r:id="rId16"/>
            </p:custDataLst>
          </p:nvPr>
        </p:nvSpPr>
        <p:spPr>
          <a:xfrm>
            <a:off x="8101584" y="21945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</a:t>
            </a:r>
            <a:endParaRPr lang="en-US" sz="2000" dirty="0"/>
          </a:p>
        </p:txBody>
      </p:sp>
      <p:sp>
        <p:nvSpPr>
          <p:cNvPr id="25" name="Text 23"/>
          <p:cNvSpPr/>
          <p:nvPr>
            <p:custDataLst>
              <p:tags r:id="rId17"/>
            </p:custDataLst>
          </p:nvPr>
        </p:nvSpPr>
        <p:spPr>
          <a:xfrm>
            <a:off x="7488936" y="283464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培训结束时，根据技能与阶段成果进行评估。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0120" y="4800600"/>
            <a:ext cx="996696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 1 的重点不是“做完全部项目”，而是把各专业组件开发到可集成、可评估的状态。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463040" y="5559552"/>
            <a:ext cx="8961120" cy="960120"/>
          </a:xfrm>
          <a:prstGeom prst="roundRect">
            <a:avLst>
              <a:gd name="adj" fmla="val 7619"/>
            </a:avLst>
          </a:prstGeom>
          <a:solidFill>
            <a:srgbClr val="E9F5FB"/>
          </a:solidFill>
          <a:ln w="7620">
            <a:solidFill>
              <a:srgbClr val="CBEA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581558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阶段产出：可独立运行的组件、技能证明、与阶段 2 集成相关的设计决策。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375" y="438785"/>
            <a:ext cx="1039622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时间安排</a:t>
            </a: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：</a:t>
            </a: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 2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（大约在</a:t>
            </a:r>
            <a:r>
              <a:rPr lang="en-US" altLang="zh-CN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月中，小组验收）</a:t>
            </a: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系统集成与最终交付</a:t>
            </a:r>
            <a:endParaRPr lang="en-US" sz="2500" b="1" dirty="0">
              <a:solidFill>
                <a:srgbClr val="003E6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algn="l">
              <a:buClrTx/>
              <a:buSzTx/>
              <a:buFontTx/>
              <a:buNone/>
            </a:pPr>
            <a:endParaRPr lang="en-US" sz="2500" b="1" dirty="0">
              <a:solidFill>
                <a:srgbClr val="003E6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2148840"/>
            <a:ext cx="0" cy="4069080"/>
          </a:xfrm>
          <a:prstGeom prst="line">
            <a:avLst/>
          </a:prstGeom>
          <a:noFill/>
          <a:ln w="2794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0784" y="1828800"/>
            <a:ext cx="530352" cy="530352"/>
          </a:xfrm>
          <a:prstGeom prst="ellipse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0784" y="1911096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14600" y="171907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组件集成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213055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所有成员完成培训后，开始集成完整系统。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700784" y="3154680"/>
            <a:ext cx="530352" cy="530352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00784" y="3236976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14600" y="304495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持续开发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14600" y="345643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可以继续修改或扩展阶段 1 完成的组件。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700784" y="4480560"/>
            <a:ext cx="530352" cy="530352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00784" y="4562856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514600" y="437083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创新加分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14600" y="478231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可以为项目添加额外功能与创新点。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700784" y="5806440"/>
            <a:ext cx="530352" cy="530352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00784" y="5888736"/>
            <a:ext cx="53035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514600" y="569671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提交与演示</a:t>
            </a:r>
            <a:r>
              <a:rPr lang="zh-CN" altLang="en-US" sz="20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（小组验收）</a:t>
            </a:r>
            <a:endParaRPr lang="zh-CN" altLang="en-US" sz="2000" b="1" dirty="0">
              <a:solidFill>
                <a:srgbClr val="003E6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14600" y="610819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计划在 9 月中提交；</a:t>
            </a:r>
            <a:endParaRPr lang="en-US" sz="1650" dirty="0">
              <a:solidFill>
                <a:srgbClr val="17202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 2 开始时</a:t>
            </a:r>
            <a:r>
              <a:rPr lang="zh-CN" alt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会有邮件通知</a:t>
            </a: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汇报与演示安排。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635240" y="1828800"/>
            <a:ext cx="3246120" cy="4937760"/>
          </a:xfrm>
          <a:prstGeom prst="roundRect">
            <a:avLst>
              <a:gd name="adj" fmla="val 2254"/>
            </a:avLst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28432" y="2176272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关键成功条件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101584" y="3063240"/>
            <a:ext cx="2331720" cy="19202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D9E7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沟通清晰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D9E7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版本同步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D9E7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接口定义明确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D9E7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责任分配到人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7882128" y="5870448"/>
            <a:ext cx="2761488" cy="475488"/>
          </a:xfrm>
          <a:prstGeom prst="roundRect">
            <a:avLst>
              <a:gd name="adj" fmla="val 15385"/>
            </a:avLst>
          </a:prstGeom>
          <a:solidFill>
            <a:srgbClr val="D6FF2A"/>
          </a:solidFill>
          <a:ln w="12700">
            <a:solidFill>
              <a:srgbClr val="D6FF2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18704" y="5975055"/>
            <a:ext cx="2688336" cy="2662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团队协作是系统集成的核心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375" y="438785"/>
            <a:ext cx="1015492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dirty="0"/>
              <a:t>2026</a:t>
            </a:r>
            <a:r>
              <a:rPr lang="zh-CN" altLang="en-US" sz="2500" dirty="0"/>
              <a:t>年</a:t>
            </a:r>
            <a:r>
              <a:rPr lang="en-US" altLang="zh-CN" sz="2500" dirty="0"/>
              <a:t>Design and build</a:t>
            </a:r>
            <a:r>
              <a:rPr lang="zh-CN" altLang="en-US" sz="2500" dirty="0"/>
              <a:t>题目（</a:t>
            </a:r>
            <a:r>
              <a:rPr lang="en-US" sz="25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智能家居原型</a:t>
            </a:r>
            <a:r>
              <a:rPr lang="zh-CN" altLang="en-US" sz="2500" dirty="0"/>
              <a:t>）</a:t>
            </a:r>
            <a:endParaRPr lang="zh-CN" alt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36192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任务：设计并搭建以安全与舒适为核心的智能家居系统原型。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841375" y="2285873"/>
            <a:ext cx="4983480" cy="150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系统应包含用于监测与控制的电子装置，如传感器、显示屏、摄像头与执行机构；同时支持授权人员门禁、目标识别、安防监控和友好图形界面。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4983480" cy="9875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扩展方向可包括：门窗状态检测、灯光亮度调节、室内温度显示，以及温度过高时自动启动风扇。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68680" y="528523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5389839"/>
            <a:ext cx="3858768" cy="2662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· 舒适 · 监测 · 控制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4846320" cy="498348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1430">
            <a:solidFill>
              <a:srgbClr val="DFE8F1"/>
            </a:solidFill>
            <a:prstDash val="solid"/>
          </a:ln>
          <a:effectLst>
            <a:outerShdw blurRad="25400" dist="50800" dir="2700000" algn="bl" rotWithShape="0">
              <a:srgbClr val="667085">
                <a:alpha val="14000"/>
              </a:srgbClr>
            </a:outerShdw>
          </a:effectLst>
        </p:spPr>
      </p:sp>
      <p:pic>
        <p:nvPicPr>
          <p:cNvPr id="15" name="Image 0" descr="/mnt/data/smart_home_crop2.png"/>
          <p:cNvPicPr>
            <a:picLocks noChangeAspect="1"/>
          </p:cNvPicPr>
          <p:nvPr/>
        </p:nvPicPr>
        <p:blipFill>
          <a:blip r:embed="rId1"/>
          <a:srcRect l="311" r="311"/>
          <a:stretch>
            <a:fillRect/>
          </a:stretch>
        </p:blipFill>
        <p:spPr>
          <a:xfrm>
            <a:off x="6537960" y="1874520"/>
            <a:ext cx="4297680" cy="30632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428232" y="5285232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4808" y="5377769"/>
            <a:ext cx="1344168" cy="235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自动门禁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91856" y="5285232"/>
            <a:ext cx="1097280" cy="420624"/>
          </a:xfrm>
          <a:prstGeom prst="roundRect">
            <a:avLst>
              <a:gd name="adj" fmla="val 17391"/>
            </a:avLst>
          </a:prstGeom>
          <a:solidFill>
            <a:srgbClr val="5B5FC7"/>
          </a:solidFill>
          <a:ln w="12700">
            <a:solidFill>
              <a:srgbClr val="5B5FC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28432" y="5377769"/>
            <a:ext cx="1024128" cy="235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摄像头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217152" y="5285232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53728" y="5377769"/>
            <a:ext cx="1344168" cy="235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温度监测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327648" y="6053328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智能家居原型：从硬件模型到数据智能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438912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【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电管、电子专业</a:t>
            </a: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】 </a:t>
            </a:r>
            <a:r>
              <a:rPr lang="en-US" sz="25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硬件模型与控制软件</a:t>
            </a:r>
            <a:endParaRPr lang="en-US" sz="2500" dirty="0"/>
          </a:p>
          <a:p>
            <a:pPr marL="0" indent="0" algn="l">
              <a:buNone/>
            </a:pP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536192"/>
            <a:ext cx="1143000" cy="420624"/>
          </a:xfrm>
          <a:prstGeom prst="roundRect">
            <a:avLst>
              <a:gd name="adj" fmla="val 17391"/>
            </a:avLst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28729"/>
            <a:ext cx="1069848" cy="235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基本要求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1"/>
            </p:custDataLst>
          </p:nvPr>
        </p:nvSpPr>
        <p:spPr>
          <a:xfrm>
            <a:off x="868680" y="2148840"/>
            <a:ext cx="32461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2"/>
            </p:custDataLst>
          </p:nvPr>
        </p:nvSpPr>
        <p:spPr>
          <a:xfrm>
            <a:off x="868680" y="2148840"/>
            <a:ext cx="100584" cy="199339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1179576" y="2368296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门禁</a:t>
            </a:r>
            <a:endParaRPr lang="en-US" sz="2200" dirty="0"/>
          </a:p>
        </p:txBody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1188720" y="2880360"/>
            <a:ext cx="2743200" cy="112471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7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入户门可通过可信方式（如 PIN、人脸识别等）为授权人员打开。</a:t>
            </a:r>
            <a:endParaRPr lang="en-US" sz="1570" dirty="0"/>
          </a:p>
        </p:txBody>
      </p:sp>
      <p:sp>
        <p:nvSpPr>
          <p:cNvPr id="15" name="Shape 13"/>
          <p:cNvSpPr/>
          <p:nvPr>
            <p:custDataLst>
              <p:tags r:id="rId5"/>
            </p:custDataLst>
          </p:nvPr>
        </p:nvSpPr>
        <p:spPr>
          <a:xfrm>
            <a:off x="4572000" y="2148840"/>
            <a:ext cx="32461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6"/>
            </p:custDataLst>
          </p:nvPr>
        </p:nvSpPr>
        <p:spPr>
          <a:xfrm>
            <a:off x="4572000" y="2148840"/>
            <a:ext cx="100584" cy="1993392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7"/>
            </p:custDataLst>
          </p:nvPr>
        </p:nvSpPr>
        <p:spPr>
          <a:xfrm>
            <a:off x="4882896" y="2368296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监控</a:t>
            </a:r>
            <a:endParaRPr lang="en-US" sz="2200" dirty="0"/>
          </a:p>
        </p:txBody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4892040" y="2880360"/>
            <a:ext cx="2743200" cy="112471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7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监控摄像头能够拍摄并本地保存照片。</a:t>
            </a:r>
            <a:endParaRPr lang="en-US" sz="1570" dirty="0"/>
          </a:p>
        </p:txBody>
      </p:sp>
      <p:sp>
        <p:nvSpPr>
          <p:cNvPr id="19" name="Shape 17"/>
          <p:cNvSpPr/>
          <p:nvPr>
            <p:custDataLst>
              <p:tags r:id="rId9"/>
            </p:custDataLst>
          </p:nvPr>
        </p:nvSpPr>
        <p:spPr>
          <a:xfrm>
            <a:off x="8275320" y="2148840"/>
            <a:ext cx="32461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0"/>
            </p:custDataLst>
          </p:nvPr>
        </p:nvSpPr>
        <p:spPr>
          <a:xfrm>
            <a:off x="8275320" y="2148840"/>
            <a:ext cx="100584" cy="19933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1"/>
            </p:custDataLst>
          </p:nvPr>
        </p:nvSpPr>
        <p:spPr>
          <a:xfrm>
            <a:off x="8586216" y="2368296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温控</a:t>
            </a:r>
            <a:endParaRPr lang="en-US" sz="2200" dirty="0"/>
          </a:p>
        </p:txBody>
      </p:sp>
      <p:sp>
        <p:nvSpPr>
          <p:cNvPr id="22" name="Text 20"/>
          <p:cNvSpPr/>
          <p:nvPr>
            <p:custDataLst>
              <p:tags r:id="rId12"/>
            </p:custDataLst>
          </p:nvPr>
        </p:nvSpPr>
        <p:spPr>
          <a:xfrm>
            <a:off x="8595360" y="2880360"/>
            <a:ext cx="2743200" cy="112471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7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显示室内温度；温度过高时启动风扇。</a:t>
            </a:r>
            <a:endParaRPr lang="en-US" sz="1570" dirty="0"/>
          </a:p>
        </p:txBody>
      </p:sp>
      <p:sp>
        <p:nvSpPr>
          <p:cNvPr id="23" name="Shape 21"/>
          <p:cNvSpPr/>
          <p:nvPr/>
        </p:nvSpPr>
        <p:spPr>
          <a:xfrm>
            <a:off x="868680" y="4736592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4829129"/>
            <a:ext cx="1618488" cy="235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 / 高级功能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5349240"/>
            <a:ext cx="10058400" cy="16459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3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 检测门窗开闭并显示状态。</a:t>
            </a:r>
            <a:endParaRPr lang="en-US" sz="1730" dirty="0"/>
          </a:p>
          <a:p>
            <a:pPr marL="0" indent="0" algn="l">
              <a:buNone/>
            </a:pPr>
            <a:r>
              <a:rPr lang="en-US" sz="173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 控制灯光亮度并显示当前亮度。</a:t>
            </a:r>
            <a:endParaRPr lang="en-US" sz="1730" dirty="0"/>
          </a:p>
          <a:p>
            <a:pPr marL="0" indent="0" algn="l">
              <a:buNone/>
            </a:pPr>
            <a:r>
              <a:rPr lang="en-US" sz="173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 自行设计的其他功能。</a:t>
            </a:r>
            <a:endParaRPr lang="en-US" sz="1730" dirty="0"/>
          </a:p>
        </p:txBody>
      </p:sp>
      <p:sp>
        <p:nvSpPr>
          <p:cNvPr id="26" name="Shape 24"/>
          <p:cNvSpPr/>
          <p:nvPr/>
        </p:nvSpPr>
        <p:spPr>
          <a:xfrm>
            <a:off x="1051560" y="7114032"/>
            <a:ext cx="9784080" cy="530352"/>
          </a:xfrm>
          <a:prstGeom prst="roundRect">
            <a:avLst>
              <a:gd name="adj" fmla="val 13793"/>
            </a:avLst>
          </a:prstGeom>
          <a:solidFill>
            <a:srgbClr val="E7EEF5"/>
          </a:solidFill>
          <a:ln w="7620">
            <a:solidFill>
              <a:srgbClr val="DBE7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7260336"/>
            <a:ext cx="9372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</a:t>
            </a:r>
            <a:r>
              <a:rPr lang="zh-CN" altLang="en-US" sz="145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管、电子专业</a:t>
            </a:r>
            <a:r>
              <a:rPr lang="en-US" sz="145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重点：让物理模型可靠运行，并把控制逻辑做清楚、做稳定。</a:t>
            </a:r>
            <a:endParaRPr lang="en-US" sz="1450" dirty="0"/>
          </a:p>
        </p:txBody>
      </p:sp>
      <p:sp>
        <p:nvSpPr>
          <p:cNvPr id="29" name="文本框 28"/>
          <p:cNvSpPr txBox="1"/>
          <p:nvPr/>
        </p:nvSpPr>
        <p:spPr>
          <a:xfrm>
            <a:off x="841375" y="4237990"/>
            <a:ext cx="5943600" cy="357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zh-CN" altLang="en-US" sz="173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以及</a:t>
            </a:r>
            <a:r>
              <a:rPr lang="en-US" sz="173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 电机化功能：如入口闸门、风扇/空调系统等。</a:t>
            </a:r>
            <a:endParaRPr lang="en-US" altLang="en-US" sz="1730" dirty="0">
              <a:solidFill>
                <a:srgbClr val="17202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438912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【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物联网、智科专业</a:t>
            </a: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】</a:t>
            </a:r>
            <a:r>
              <a:rPr lang="en-US" sz="25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数据访问软件与智能识别</a:t>
            </a:r>
            <a:endParaRPr lang="en-US" sz="2500" dirty="0"/>
          </a:p>
          <a:p>
            <a:pPr marL="0" indent="0" algn="l">
              <a:buNone/>
            </a:pP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536192"/>
            <a:ext cx="1143000" cy="420624"/>
          </a:xfrm>
          <a:prstGeom prst="roundRect">
            <a:avLst>
              <a:gd name="adj" fmla="val 17391"/>
            </a:avLst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28729"/>
            <a:ext cx="1069848" cy="235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基本要求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834640"/>
            <a:ext cx="914400" cy="0"/>
          </a:xfrm>
          <a:prstGeom prst="line">
            <a:avLst/>
          </a:prstGeom>
          <a:noFill/>
          <a:ln w="25400">
            <a:solidFill>
              <a:srgbClr val="00A6D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2834640"/>
            <a:ext cx="914400" cy="0"/>
          </a:xfrm>
          <a:prstGeom prst="line">
            <a:avLst/>
          </a:prstGeom>
          <a:noFill/>
          <a:ln w="25400">
            <a:solidFill>
              <a:srgbClr val="00A6D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" y="221284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8136" y="2414016"/>
            <a:ext cx="2057400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数据管理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124712" y="2871216"/>
            <a:ext cx="199339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存储并管理授权人员信息。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3931920" y="221284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51376" y="2414016"/>
            <a:ext cx="2057400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5B5F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目标识别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4187952" y="2871216"/>
            <a:ext cx="199339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从硬件模型获取图像，并用 YOLO 识别目标。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6995160" y="221284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14616" y="2414016"/>
            <a:ext cx="2057400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GUI 展示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251192" y="2871216"/>
            <a:ext cx="199339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开发图形界面，展示必要信息。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868680" y="4343400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" y="4435937"/>
            <a:ext cx="1618488" cy="2355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 / 高级功能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956048"/>
            <a:ext cx="10058400" cy="184708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1620" dirty="0"/>
              <a:t>1.</a:t>
            </a:r>
            <a:r>
              <a:rPr lang="zh-CN" altLang="en-US" sz="1620" dirty="0"/>
              <a:t>远程控制：通过</a:t>
            </a:r>
            <a:r>
              <a:rPr lang="en-US" altLang="zh-CN" sz="1620" dirty="0"/>
              <a:t>GUI</a:t>
            </a:r>
            <a:r>
              <a:rPr lang="zh-CN" altLang="en-US" sz="1620" dirty="0"/>
              <a:t>界面远程控制灯、空调的开关等。</a:t>
            </a:r>
            <a:endParaRPr lang="zh-CN" altLang="en-US" sz="1620" dirty="0"/>
          </a:p>
          <a:p>
            <a:pPr marL="0" indent="0" algn="l">
              <a:buNone/>
            </a:pPr>
            <a:r>
              <a:rPr lang="en-US" altLang="zh-CN" sz="1620" dirty="0"/>
              <a:t>2.</a:t>
            </a:r>
            <a:r>
              <a:rPr lang="zh-CN" altLang="en-US" sz="1620" dirty="0"/>
              <a:t>自行设计的其他功能：通过摄像头检测到灯泡图片后，控制灯亮。</a:t>
            </a:r>
            <a:endParaRPr lang="zh-CN" altLang="en-US" sz="1620" dirty="0"/>
          </a:p>
        </p:txBody>
      </p:sp>
      <p:sp>
        <p:nvSpPr>
          <p:cNvPr id="25" name="Shape 23"/>
          <p:cNvSpPr/>
          <p:nvPr/>
        </p:nvSpPr>
        <p:spPr>
          <a:xfrm>
            <a:off x="1051560" y="7114032"/>
            <a:ext cx="9784080" cy="530352"/>
          </a:xfrm>
          <a:prstGeom prst="roundRect">
            <a:avLst>
              <a:gd name="adj" fmla="val 13793"/>
            </a:avLst>
          </a:prstGeom>
          <a:solidFill>
            <a:srgbClr val="E9F5FB"/>
          </a:solidFill>
          <a:ln w="7620">
            <a:solidFill>
              <a:srgbClr val="D3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7260336"/>
            <a:ext cx="9372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5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物联网、智科专业</a:t>
            </a:r>
            <a:r>
              <a:rPr lang="en-US" sz="145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重点：把数据、识别算法与可视化界面连接成可用的信息系统。</a:t>
            </a:r>
            <a:endParaRPr lang="en-US" sz="1450" dirty="0"/>
          </a:p>
        </p:txBody>
      </p:sp>
      <p:sp>
        <p:nvSpPr>
          <p:cNvPr id="27" name="文本框 26"/>
          <p:cNvSpPr txBox="1"/>
          <p:nvPr/>
        </p:nvSpPr>
        <p:spPr>
          <a:xfrm>
            <a:off x="198755" y="38642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685800" indent="0" algn="l" defTabSz="266700"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None/>
              <a:tabLst>
                <a:tab pos="457200" algn="l"/>
              </a:tabLs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以及人脸识别开启门禁：至少实现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真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假。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438912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小组交付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</a:t>
            </a: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3619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 2 不只交付“硬件能跑”，还要把产品、过程与团队管理讲清楚。</a:t>
            </a:r>
            <a:endParaRPr lang="en-US" sz="1900" dirty="0"/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868680" y="23317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868680" y="2331720"/>
            <a:ext cx="100584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1179576" y="2551176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短视频广告</a:t>
            </a:r>
            <a:endParaRPr lang="en-US" sz="2100" dirty="0"/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1188720" y="3063240"/>
            <a:ext cx="2743200" cy="19659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制作短视频广告（最长 30 秒），突出系统价值与创新点。</a:t>
            </a:r>
            <a:endParaRPr lang="en-US" sz="1600" dirty="0"/>
          </a:p>
        </p:txBody>
      </p:sp>
      <p:sp>
        <p:nvSpPr>
          <p:cNvPr id="14" name="Shape 12"/>
          <p:cNvSpPr/>
          <p:nvPr>
            <p:custDataLst>
              <p:tags r:id="rId5"/>
            </p:custDataLst>
          </p:nvPr>
        </p:nvSpPr>
        <p:spPr>
          <a:xfrm>
            <a:off x="4315968" y="23317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4315968" y="2331720"/>
            <a:ext cx="100584" cy="283464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4626864" y="2551176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项目报告</a:t>
            </a:r>
            <a:endParaRPr lang="en-US" sz="2100" dirty="0"/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4636008" y="3063240"/>
            <a:ext cx="2743200" cy="19659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覆盖所有交付物的综合报告；解释阶段 1 的设计过程与关键决策。</a:t>
            </a:r>
            <a:endParaRPr lang="en-US" sz="1600" dirty="0"/>
          </a:p>
        </p:txBody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7763256" y="23317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3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7763256" y="2331720"/>
            <a:ext cx="100584" cy="2834640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8074152" y="2551176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计划与纪要</a:t>
            </a:r>
            <a:endParaRPr lang="en-US" sz="21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8083296" y="3063240"/>
            <a:ext cx="2743200" cy="19659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说明阶段 2 的计划与管理；包括时间线、甘特图和团队会议纪要。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5989320"/>
            <a:ext cx="9738360" cy="1051560"/>
          </a:xfrm>
          <a:prstGeom prst="roundRect">
            <a:avLst>
              <a:gd name="adj" fmla="val 6957"/>
            </a:avLst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67085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44752" y="6254496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6F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06040" y="6291072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以上交付</a:t>
            </a:r>
            <a:r>
              <a:rPr lang="zh-CN" altLang="en-US" sz="16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</a:t>
            </a:r>
            <a:r>
              <a:rPr lang="en-US" sz="16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应注意版式、清晰度</a:t>
            </a:r>
            <a:r>
              <a:rPr lang="zh-CN" altLang="en-US" sz="16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，后续会有邮件通知提交时间和方式</a:t>
            </a:r>
            <a:endParaRPr lang="zh-CN" altLang="en-US" sz="1650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109728" cy="53035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438912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小组验收</a:t>
            </a:r>
            <a:r>
              <a:rPr 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的评价标准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</a:t>
            </a:r>
            <a:r>
              <a:rPr lang="en-US" sz="25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系统 + 文档 + 团队</a:t>
            </a:r>
            <a:r>
              <a:rPr lang="zh-CN" altLang="en-US" sz="25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</a:t>
            </a:r>
            <a:endParaRPr lang="zh-CN" altLang="en-US" sz="2500" b="1" dirty="0">
              <a:solidFill>
                <a:srgbClr val="003E6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81160" y="54864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1060704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6768" y="7735824"/>
            <a:ext cx="54864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172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56848" y="7845552"/>
            <a:ext cx="219456" cy="0"/>
          </a:xfrm>
          <a:prstGeom prst="line">
            <a:avLst/>
          </a:prstGeom>
          <a:noFill/>
          <a:ln w="17780">
            <a:solidFill>
              <a:srgbClr val="00A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2971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828800"/>
            <a:ext cx="164592" cy="749808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199339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创新设计</a:t>
            </a:r>
            <a:endParaRPr lang="en-US" sz="188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2971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828800"/>
            <a:ext cx="164592" cy="749808"/>
          </a:xfrm>
          <a:prstGeom prst="rect">
            <a:avLst/>
          </a:prstGeom>
          <a:solidFill>
            <a:srgbClr val="0EA66B"/>
          </a:solidFill>
          <a:ln w="12700">
            <a:solidFill>
              <a:srgbClr val="0EA6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99339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完整文档</a:t>
            </a:r>
            <a:endParaRPr lang="en-US" sz="1880" dirty="0"/>
          </a:p>
        </p:txBody>
      </p:sp>
      <p:sp>
        <p:nvSpPr>
          <p:cNvPr id="15" name="Shape 13"/>
          <p:cNvSpPr/>
          <p:nvPr/>
        </p:nvSpPr>
        <p:spPr>
          <a:xfrm>
            <a:off x="7863840" y="1828800"/>
            <a:ext cx="2971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0" y="1828800"/>
            <a:ext cx="16459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199339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优秀团队合作</a:t>
            </a:r>
            <a:endParaRPr lang="en-US" sz="1880" dirty="0"/>
          </a:p>
        </p:txBody>
      </p:sp>
      <p:sp>
        <p:nvSpPr>
          <p:cNvPr id="18" name="Shape 16"/>
          <p:cNvSpPr/>
          <p:nvPr/>
        </p:nvSpPr>
        <p:spPr>
          <a:xfrm>
            <a:off x="914400" y="3154680"/>
            <a:ext cx="2971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154680"/>
            <a:ext cx="164592" cy="749808"/>
          </a:xfrm>
          <a:prstGeom prst="rect">
            <a:avLst/>
          </a:prstGeom>
          <a:solidFill>
            <a:srgbClr val="003E6B"/>
          </a:solidFill>
          <a:ln w="12700">
            <a:solidFill>
              <a:srgbClr val="003E6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33192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周密计划</a:t>
            </a:r>
            <a:endParaRPr lang="en-US" sz="1880" dirty="0"/>
          </a:p>
        </p:txBody>
      </p:sp>
      <p:sp>
        <p:nvSpPr>
          <p:cNvPr id="21" name="Shape 19"/>
          <p:cNvSpPr/>
          <p:nvPr/>
        </p:nvSpPr>
        <p:spPr>
          <a:xfrm>
            <a:off x="4389120" y="3154680"/>
            <a:ext cx="2971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blurRad="25400" dist="50800" dir="2700000" algn="bl" rotWithShape="0">
              <a:srgbClr val="667085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154680"/>
            <a:ext cx="164592" cy="749808"/>
          </a:xfrm>
          <a:prstGeom prst="rect">
            <a:avLst/>
          </a:prstGeom>
          <a:solidFill>
            <a:srgbClr val="D94747"/>
          </a:solidFill>
          <a:ln w="12700">
            <a:solidFill>
              <a:srgbClr val="D9474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33192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有效营销</a:t>
            </a:r>
            <a:endParaRPr lang="en-US" sz="1880" dirty="0"/>
          </a:p>
        </p:txBody>
      </p:sp>
      <p:sp>
        <p:nvSpPr>
          <p:cNvPr id="24" name="Shape 22"/>
          <p:cNvSpPr/>
          <p:nvPr/>
        </p:nvSpPr>
        <p:spPr>
          <a:xfrm>
            <a:off x="1143000" y="4983480"/>
            <a:ext cx="9601200" cy="1783080"/>
          </a:xfrm>
          <a:prstGeom prst="roundRect">
            <a:avLst>
              <a:gd name="adj" fmla="val 4103"/>
            </a:avLst>
          </a:prstGeom>
          <a:solidFill>
            <a:srgbClr val="E7EEF5"/>
          </a:solidFill>
          <a:ln w="7620">
            <a:solidFill>
              <a:srgbClr val="D8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5321808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3E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不只是电路 / 软件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919472" y="5276088"/>
            <a:ext cx="5440680" cy="10058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美观：外观效果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易用性：用户友好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可维护性：可持续性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172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预算：成本更低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8229600"/>
          </a:xfrm>
          <a:prstGeom prst="rect">
            <a:avLst/>
          </a:prstGeom>
          <a:solidFill>
            <a:srgbClr val="061E35"/>
          </a:solidFill>
          <a:ln w="12700">
            <a:solidFill>
              <a:srgbClr val="061E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00" cy="16459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52" y="1828800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我们进入阶段 2 时再见。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987552" y="2542032"/>
            <a:ext cx="658368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FF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祝大家暑期愉快！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987552" y="3794760"/>
            <a:ext cx="4389120" cy="0"/>
          </a:xfrm>
          <a:prstGeom prst="line">
            <a:avLst/>
          </a:prstGeom>
          <a:noFill/>
          <a:ln w="12700">
            <a:solidFill>
              <a:srgbClr val="47799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46634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987552" y="7114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6C8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2026年7月1日</a:t>
            </a:r>
            <a:endParaRPr lang="en-US" sz="1350" dirty="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183120" y="522923"/>
            <a:ext cx="3886200" cy="11144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2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3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4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5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6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7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8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9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10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11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12.xml><?xml version="1.0" encoding="utf-8"?>
<p:tagLst xmlns:p="http://schemas.openxmlformats.org/presentationml/2006/main">
  <p:tag name="KSO_WM_DIAGRAM_VIRTUALLY_FRAME" val="{&quot;height&quot;:342,&quot;left&quot;:57.6,&quot;top&quot;:183.6,&quot;width&quot;:824.4}"/>
</p:tagLst>
</file>

<file path=ppt/tags/tag13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14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15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16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17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18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19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0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1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2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3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4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5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6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7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8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29.xml><?xml version="1.0" encoding="utf-8"?>
<p:tagLst xmlns:p="http://schemas.openxmlformats.org/presentationml/2006/main">
  <p:tag name="KSO_WM_DIAGRAM_VIRTUALLY_FRAME" val="{&quot;height&quot;:144,&quot;left&quot;:68.4,&quot;top&quot;:154.8,&quot;width&quot;:709.9200000000001}"/>
</p:tagLst>
</file>

<file path=ppt/tags/tag30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1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2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3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4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5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6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7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8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39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40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41.xml><?xml version="1.0" encoding="utf-8"?>
<p:tagLst xmlns:p="http://schemas.openxmlformats.org/presentationml/2006/main">
  <p:tag name="KSO_WM_DIAGRAM_VIRTUALLY_FRAME" val="{&quot;height&quot;:156.95999999999998,&quot;left&quot;:68.4,&quot;top&quot;:169.2,&quot;width&quot;:838.8}"/>
</p:tagLst>
</file>

<file path=ppt/tags/tag42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43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44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45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46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47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48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49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50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51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52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ags/tag53.xml><?xml version="1.0" encoding="utf-8"?>
<p:tagLst xmlns:p="http://schemas.openxmlformats.org/presentationml/2006/main">
  <p:tag name="KSO_WM_DIAGRAM_VIRTUALLY_FRAME" val="{&quot;height&quot;:223.2,&quot;left&quot;:68.4,&quot;top&quot;:183.6,&quot;width&quot;:798.47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WPS 演示</Application>
  <PresentationFormat>On-screen Show (16:9)</PresentationFormat>
  <Paragraphs>266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Times New Roman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二年级短学期 设计与搭建项目 - 美化版</dc:title>
  <dc:creator>OpenAI</dc:creator>
  <dc:subject>二年级短学期 设计与搭建项目</dc:subject>
  <cp:lastModifiedBy>叶起惠</cp:lastModifiedBy>
  <cp:revision>45</cp:revision>
  <dcterms:created xsi:type="dcterms:W3CDTF">2026-07-03T04:37:00Z</dcterms:created>
  <dcterms:modified xsi:type="dcterms:W3CDTF">2026-07-03T08:41:08Z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96D1555ADC934210AD3BC46E08DF61E6_12</vt:lpwstr>
  </property>
  <property fmtid="{D5CDD505-2E9C-101B-9397-08002B2CF9AE}" pid="3" name="KSOProductBuildVer">
    <vt:lpwstr>2052-12.1.0.23542</vt:lpwstr>
  </property>
</Properties>
</file>